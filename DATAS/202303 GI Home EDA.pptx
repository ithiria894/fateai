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7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D78349-6B8D-4133-A47A-CB3E55A6B618}" v="17" dt="2023-03-31T07:02:41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778" autoAdjust="0"/>
  </p:normalViewPr>
  <p:slideViewPr>
    <p:cSldViewPr snapToGrid="0">
      <p:cViewPr>
        <p:scale>
          <a:sx n="100" d="100"/>
          <a:sy n="100" d="100"/>
        </p:scale>
        <p:origin x="136" y="-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1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 Kelvin" userId="416e5d84-3133-4774-aa1a-290e1bef47d6" providerId="ADAL" clId="{BCD78349-6B8D-4133-A47A-CB3E55A6B618}"/>
    <pc:docChg chg="undo custSel addSld delSld modSld">
      <pc:chgData name="AU Kelvin" userId="416e5d84-3133-4774-aa1a-290e1bef47d6" providerId="ADAL" clId="{BCD78349-6B8D-4133-A47A-CB3E55A6B618}" dt="2023-03-31T07:24:36.409" v="154" actId="20577"/>
      <pc:docMkLst>
        <pc:docMk/>
      </pc:docMkLst>
      <pc:sldChg chg="new del">
        <pc:chgData name="AU Kelvin" userId="416e5d84-3133-4774-aa1a-290e1bef47d6" providerId="ADAL" clId="{BCD78349-6B8D-4133-A47A-CB3E55A6B618}" dt="2023-03-30T10:14:53.053" v="2" actId="47"/>
        <pc:sldMkLst>
          <pc:docMk/>
          <pc:sldMk cId="2103059330" sldId="256"/>
        </pc:sldMkLst>
      </pc:sldChg>
      <pc:sldChg chg="addSp delSp modSp add">
        <pc:chgData name="AU Kelvin" userId="416e5d84-3133-4774-aa1a-290e1bef47d6" providerId="ADAL" clId="{BCD78349-6B8D-4133-A47A-CB3E55A6B618}" dt="2023-03-31T06:44:40.546" v="119"/>
        <pc:sldMkLst>
          <pc:docMk/>
          <pc:sldMk cId="4093437428" sldId="257"/>
        </pc:sldMkLst>
        <pc:spChg chg="add del mod">
          <ac:chgData name="AU Kelvin" userId="416e5d84-3133-4774-aa1a-290e1bef47d6" providerId="ADAL" clId="{BCD78349-6B8D-4133-A47A-CB3E55A6B618}" dt="2023-03-31T06:44:40.546" v="119"/>
          <ac:spMkLst>
            <pc:docMk/>
            <pc:sldMk cId="4093437428" sldId="257"/>
            <ac:spMk id="5" creationId="{131064E0-A481-430C-A319-B17C2FA2A0B5}"/>
          </ac:spMkLst>
        </pc:spChg>
      </pc:sldChg>
      <pc:sldChg chg="new del">
        <pc:chgData name="AU Kelvin" userId="416e5d84-3133-4774-aa1a-290e1bef47d6" providerId="ADAL" clId="{BCD78349-6B8D-4133-A47A-CB3E55A6B618}" dt="2023-03-30T10:15:10.397" v="5" actId="47"/>
        <pc:sldMkLst>
          <pc:docMk/>
          <pc:sldMk cId="1113759917" sldId="258"/>
        </pc:sldMkLst>
      </pc:sldChg>
      <pc:sldChg chg="addSp modSp add mod">
        <pc:chgData name="AU Kelvin" userId="416e5d84-3133-4774-aa1a-290e1bef47d6" providerId="ADAL" clId="{BCD78349-6B8D-4133-A47A-CB3E55A6B618}" dt="2023-03-31T07:02:51.583" v="139" actId="20577"/>
        <pc:sldMkLst>
          <pc:docMk/>
          <pc:sldMk cId="2799964493" sldId="259"/>
        </pc:sldMkLst>
        <pc:spChg chg="add mod">
          <ac:chgData name="AU Kelvin" userId="416e5d84-3133-4774-aa1a-290e1bef47d6" providerId="ADAL" clId="{BCD78349-6B8D-4133-A47A-CB3E55A6B618}" dt="2023-03-30T10:24:52.343" v="109" actId="1076"/>
          <ac:spMkLst>
            <pc:docMk/>
            <pc:sldMk cId="2799964493" sldId="259"/>
            <ac:spMk id="3" creationId="{008B3A72-D5DB-4FDE-B5E9-D66A6ED6C27F}"/>
          </ac:spMkLst>
        </pc:spChg>
        <pc:graphicFrameChg chg="mod modGraphic">
          <ac:chgData name="AU Kelvin" userId="416e5d84-3133-4774-aa1a-290e1bef47d6" providerId="ADAL" clId="{BCD78349-6B8D-4133-A47A-CB3E55A6B618}" dt="2023-03-31T07:02:51.583" v="139" actId="20577"/>
          <ac:graphicFrameMkLst>
            <pc:docMk/>
            <pc:sldMk cId="2799964493" sldId="259"/>
            <ac:graphicFrameMk id="41" creationId="{0479F6C6-8704-417D-B15B-85E4A9AF3E4D}"/>
          </ac:graphicFrameMkLst>
        </pc:graphicFrameChg>
      </pc:sldChg>
      <pc:sldChg chg="modSp add mod">
        <pc:chgData name="AU Kelvin" userId="416e5d84-3133-4774-aa1a-290e1bef47d6" providerId="ADAL" clId="{BCD78349-6B8D-4133-A47A-CB3E55A6B618}" dt="2023-03-31T07:24:36.409" v="154" actId="20577"/>
        <pc:sldMkLst>
          <pc:docMk/>
          <pc:sldMk cId="1727444638" sldId="272"/>
        </pc:sldMkLst>
        <pc:spChg chg="mod">
          <ac:chgData name="AU Kelvin" userId="416e5d84-3133-4774-aa1a-290e1bef47d6" providerId="ADAL" clId="{BCD78349-6B8D-4133-A47A-CB3E55A6B618}" dt="2023-03-31T07:24:36.409" v="154" actId="20577"/>
          <ac:spMkLst>
            <pc:docMk/>
            <pc:sldMk cId="1727444638" sldId="272"/>
            <ac:spMk id="4" creationId="{D1D58659-EFC8-4B0B-894F-BEA3C186780B}"/>
          </ac:spMkLst>
        </pc:spChg>
        <pc:spChg chg="mod">
          <ac:chgData name="AU Kelvin" userId="416e5d84-3133-4774-aa1a-290e1bef47d6" providerId="ADAL" clId="{BCD78349-6B8D-4133-A47A-CB3E55A6B618}" dt="2023-03-31T06:45:16.293" v="122" actId="20577"/>
          <ac:spMkLst>
            <pc:docMk/>
            <pc:sldMk cId="1727444638" sldId="272"/>
            <ac:spMk id="9" creationId="{4CC9B8B1-E833-F824-3AAE-A337618719BD}"/>
          </ac:spMkLst>
        </pc:spChg>
      </pc:sldChg>
      <pc:sldMasterChg chg="addSldLayout">
        <pc:chgData name="AU Kelvin" userId="416e5d84-3133-4774-aa1a-290e1bef47d6" providerId="ADAL" clId="{BCD78349-6B8D-4133-A47A-CB3E55A6B618}" dt="2023-03-30T10:14:40.646" v="0" actId="680"/>
        <pc:sldMasterMkLst>
          <pc:docMk/>
          <pc:sldMasterMk cId="1090986642" sldId="2147483648"/>
        </pc:sldMasterMkLst>
        <pc:sldLayoutChg chg="add">
          <pc:chgData name="AU Kelvin" userId="416e5d84-3133-4774-aa1a-290e1bef47d6" providerId="ADAL" clId="{BCD78349-6B8D-4133-A47A-CB3E55A6B618}" dt="2023-03-30T10:14:40.646" v="0" actId="680"/>
          <pc:sldLayoutMkLst>
            <pc:docMk/>
            <pc:sldMasterMk cId="1090986642" sldId="2147483648"/>
            <pc:sldLayoutMk cId="833768120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0D226-E140-4BF4-8722-FB51DE827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C5E4A-7700-4979-AAB9-57B35C00E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33768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e de titre + texte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 AXA" descr="\\Mac\AllFiles\Volumes\DOSSIERS EN COURS\17_1098 AXA_Creation_gabarits\elements\png\new_logo_axa_rgb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031" y="6302818"/>
            <a:ext cx="279962" cy="28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ommaire"/>
          <p:cNvSpPr>
            <a:spLocks noGrp="1"/>
          </p:cNvSpPr>
          <p:nvPr>
            <p:ph type="title"/>
          </p:nvPr>
        </p:nvSpPr>
        <p:spPr>
          <a:xfrm>
            <a:off x="365194" y="428781"/>
            <a:ext cx="11461612" cy="449642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965">
                <a:solidFill>
                  <a:srgbClr val="00008F"/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365194" y="899284"/>
            <a:ext cx="11461475" cy="3372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341">
                <a:solidFill>
                  <a:srgbClr val="027180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3"/>
          </p:nvPr>
        </p:nvSpPr>
        <p:spPr>
          <a:xfrm>
            <a:off x="304928" y="1511883"/>
            <a:ext cx="11408128" cy="455051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rgbClr val="027180"/>
              </a:buClr>
              <a:buSzPct val="85000"/>
              <a:buFont typeface="fleche_rond" pitchFamily="2" charset="0"/>
              <a:buChar char=""/>
              <a:defRPr sz="2185">
                <a:latin typeface="+mj-lt"/>
              </a:defRPr>
            </a:lvl1pPr>
            <a:lvl2pPr>
              <a:lnSpc>
                <a:spcPct val="100000"/>
              </a:lnSpc>
              <a:buClr>
                <a:srgbClr val="027180"/>
              </a:buClr>
              <a:buSzPct val="85000"/>
              <a:buFont typeface="fleche_rond" pitchFamily="2" charset="0"/>
              <a:buChar char=""/>
              <a:defRPr sz="1873">
                <a:latin typeface="+mj-lt"/>
              </a:defRPr>
            </a:lvl2pPr>
            <a:lvl3pPr marL="1261105" indent="-279971">
              <a:lnSpc>
                <a:spcPct val="100000"/>
              </a:lnSpc>
              <a:buFont typeface="Source Sans Pro" pitchFamily="34" charset="0"/>
              <a:buChar char="–"/>
              <a:defRPr sz="1561">
                <a:latin typeface="+mj-lt"/>
              </a:defRPr>
            </a:lvl3pPr>
            <a:lvl4pPr marL="1399851" indent="-138746">
              <a:lnSpc>
                <a:spcPct val="100000"/>
              </a:lnSpc>
              <a:buFont typeface="Source Sans Pro" pitchFamily="34" charset="0"/>
              <a:buChar char="•"/>
              <a:defRPr sz="1249">
                <a:latin typeface="+mj-lt"/>
              </a:defRPr>
            </a:lvl4pPr>
            <a:lvl5pPr marL="1677344" indent="-138746">
              <a:lnSpc>
                <a:spcPct val="100000"/>
              </a:lnSpc>
              <a:buFont typeface="Source Sans Pro" pitchFamily="34" charset="0"/>
              <a:buChar char="&gt;"/>
              <a:defRPr sz="936">
                <a:latin typeface="+mj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 anchor="ctr"/>
          <a:lstStyle>
            <a:lvl1pPr>
              <a:defRPr smtClean="0"/>
            </a:lvl1pPr>
          </a:lstStyle>
          <a:p>
            <a:pPr>
              <a:defRPr/>
            </a:pPr>
            <a:fld id="{C3FF94BE-8939-42DD-BC80-D452AB1D60E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7" name="Espace réservé de la date 1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8" name="Espace réservé du pied de page 2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249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fr-FR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2004917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986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DFD87-74D9-478B-B7FE-8FBC97566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GI X-Sell</a:t>
            </a:r>
            <a:br>
              <a:rPr lang="en-US" sz="4400" dirty="0"/>
            </a:br>
            <a:r>
              <a:rPr lang="en-US" sz="4400" dirty="0"/>
              <a:t>In-depth EDA</a:t>
            </a: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FCCA31B0-8BFE-5A57-D056-524DED98B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87" r="3567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9343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9000-462A-47CF-923C-47F74967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Source in detail</a:t>
            </a:r>
          </a:p>
        </p:txBody>
      </p:sp>
      <p:graphicFrame>
        <p:nvGraphicFramePr>
          <p:cNvPr id="41" name="Table 41">
            <a:extLst>
              <a:ext uri="{FF2B5EF4-FFF2-40B4-BE49-F238E27FC236}">
                <a16:creationId xmlns:a16="http://schemas.microsoft.com/office/drawing/2014/main" id="{0479F6C6-8704-417D-B15B-85E4A9AF3E4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28021298"/>
              </p:ext>
            </p:extLst>
          </p:nvPr>
        </p:nvGraphicFramePr>
        <p:xfrm>
          <a:off x="6035336" y="1616942"/>
          <a:ext cx="5773326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095">
                  <a:extLst>
                    <a:ext uri="{9D8B030D-6E8A-4147-A177-3AD203B41FA5}">
                      <a16:colId xmlns:a16="http://schemas.microsoft.com/office/drawing/2014/main" val="2678197359"/>
                    </a:ext>
                  </a:extLst>
                </a:gridCol>
                <a:gridCol w="1105347">
                  <a:extLst>
                    <a:ext uri="{9D8B030D-6E8A-4147-A177-3AD203B41FA5}">
                      <a16:colId xmlns:a16="http://schemas.microsoft.com/office/drawing/2014/main" val="1458971226"/>
                    </a:ext>
                  </a:extLst>
                </a:gridCol>
                <a:gridCol w="962221">
                  <a:extLst>
                    <a:ext uri="{9D8B030D-6E8A-4147-A177-3AD203B41FA5}">
                      <a16:colId xmlns:a16="http://schemas.microsoft.com/office/drawing/2014/main" val="581390992"/>
                    </a:ext>
                  </a:extLst>
                </a:gridCol>
                <a:gridCol w="962221">
                  <a:extLst>
                    <a:ext uri="{9D8B030D-6E8A-4147-A177-3AD203B41FA5}">
                      <a16:colId xmlns:a16="http://schemas.microsoft.com/office/drawing/2014/main" val="3686356507"/>
                    </a:ext>
                  </a:extLst>
                </a:gridCol>
                <a:gridCol w="962221">
                  <a:extLst>
                    <a:ext uri="{9D8B030D-6E8A-4147-A177-3AD203B41FA5}">
                      <a16:colId xmlns:a16="http://schemas.microsoft.com/office/drawing/2014/main" val="3666057401"/>
                    </a:ext>
                  </a:extLst>
                </a:gridCol>
                <a:gridCol w="962221">
                  <a:extLst>
                    <a:ext uri="{9D8B030D-6E8A-4147-A177-3AD203B41FA5}">
                      <a16:colId xmlns:a16="http://schemas.microsoft.com/office/drawing/2014/main" val="3094697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Num. of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Num. of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Extraction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733088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GI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Basestat</a:t>
                      </a:r>
                      <a:r>
                        <a:rPr lang="en-US" sz="1200" dirty="0"/>
                        <a:t> (Aggregation of </a:t>
                      </a:r>
                      <a:r>
                        <a:rPr lang="en-US" sz="1200" dirty="0" err="1"/>
                        <a:t>prembase</a:t>
                      </a:r>
                      <a:r>
                        <a:rPr lang="en-US" sz="1200" dirty="0"/>
                        <a:t> + </a:t>
                      </a:r>
                      <a:r>
                        <a:rPr lang="en-US" sz="1200" dirty="0" err="1"/>
                        <a:t>clambase</a:t>
                      </a:r>
                      <a:r>
                        <a:rPr lang="en-US" sz="1200" dirty="0"/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23,016,485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FFFF00"/>
                          </a:highlight>
                        </a:rPr>
                        <a:t>2022/03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0207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Clambase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FFFF00"/>
                          </a:highlight>
                        </a:rPr>
                        <a:t>2022/03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1617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Client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6,323,751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2023/02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421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Prembase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highlight>
                            <a:srgbClr val="FFFF00"/>
                          </a:highlight>
                        </a:rPr>
                        <a:t>2022/03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830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L&amp;H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Application &amp; Policy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247,3507</a:t>
                      </a:r>
                      <a:endParaRPr lang="en-US" sz="12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(1990, 2023)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2023/03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68194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0EEE-851E-46D0-B400-6CD42AC5CD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375470" y="6406914"/>
            <a:ext cx="336946" cy="225542"/>
          </a:xfrm>
        </p:spPr>
        <p:txBody>
          <a:bodyPr/>
          <a:lstStyle/>
          <a:p>
            <a:pPr>
              <a:defRPr/>
            </a:pPr>
            <a:fld id="{C3FF94BE-8939-42DD-BC80-D452AB1D60EB}" type="slidenum">
              <a:rPr lang="en-GB" altLang="en-US" smtClean="0"/>
              <a:pPr>
                <a:defRPr/>
              </a:pPr>
              <a:t>2</a:t>
            </a:fld>
            <a:endParaRPr lang="en-GB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201E2-1BFF-46ED-B464-E8883CB9247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20746" y="6339994"/>
            <a:ext cx="2844222" cy="364340"/>
          </a:xfrm>
        </p:spPr>
        <p:txBody>
          <a:bodyPr/>
          <a:lstStyle/>
          <a:p>
            <a:pPr>
              <a:defRPr/>
            </a:pPr>
            <a:r>
              <a:rPr lang="fr-FR" err="1"/>
              <a:t>Title</a:t>
            </a:r>
            <a:r>
              <a:rPr lang="fr-FR"/>
              <a:t> of the </a:t>
            </a:r>
            <a:r>
              <a:rPr lang="fr-FR" err="1"/>
              <a:t>presentation</a:t>
            </a:r>
            <a:r>
              <a:rPr lang="fr-FR"/>
              <a:t> l 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D01353C-F356-4997-960D-F94CE2A85A1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pic>
        <p:nvPicPr>
          <p:cNvPr id="23" name="Graphic 22" descr="Database">
            <a:extLst>
              <a:ext uri="{FF2B5EF4-FFF2-40B4-BE49-F238E27FC236}">
                <a16:creationId xmlns:a16="http://schemas.microsoft.com/office/drawing/2014/main" id="{5988C108-0BAA-4BE4-846D-3D40416DA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9666" y="789723"/>
            <a:ext cx="978800" cy="9788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0217870-B9AD-40E1-966C-3745E23F1831}"/>
              </a:ext>
            </a:extLst>
          </p:cNvPr>
          <p:cNvSpPr txBox="1"/>
          <p:nvPr/>
        </p:nvSpPr>
        <p:spPr>
          <a:xfrm>
            <a:off x="1825174" y="1671740"/>
            <a:ext cx="808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Client 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E1613C-9532-47A6-8BFE-87316402ABBE}"/>
              </a:ext>
            </a:extLst>
          </p:cNvPr>
          <p:cNvSpPr txBox="1"/>
          <p:nvPr/>
        </p:nvSpPr>
        <p:spPr>
          <a:xfrm>
            <a:off x="968556" y="3377276"/>
            <a:ext cx="1178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err="1"/>
              <a:t>Basestat</a:t>
            </a:r>
            <a:r>
              <a:rPr lang="en-US" sz="1000" b="1"/>
              <a:t> + Client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9A449B-EBF6-4F87-ADFC-FB96F0255276}"/>
              </a:ext>
            </a:extLst>
          </p:cNvPr>
          <p:cNvSpPr txBox="1"/>
          <p:nvPr/>
        </p:nvSpPr>
        <p:spPr>
          <a:xfrm>
            <a:off x="323942" y="1670684"/>
            <a:ext cx="681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err="1"/>
              <a:t>Basestat</a:t>
            </a:r>
            <a:endParaRPr lang="en-US" sz="1000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BF9149-8A43-42B6-A17E-13EDBB9BECB4}"/>
              </a:ext>
            </a:extLst>
          </p:cNvPr>
          <p:cNvSpPr txBox="1"/>
          <p:nvPr/>
        </p:nvSpPr>
        <p:spPr>
          <a:xfrm>
            <a:off x="2763605" y="3357403"/>
            <a:ext cx="765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err="1"/>
              <a:t>Clambase</a:t>
            </a:r>
            <a:endParaRPr lang="en-US" sz="1000" b="1"/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44B2A940-D5BD-4FFB-89E2-19BDF7FE2E23}"/>
              </a:ext>
            </a:extLst>
          </p:cNvPr>
          <p:cNvSpPr/>
          <p:nvPr/>
        </p:nvSpPr>
        <p:spPr>
          <a:xfrm rot="16200000">
            <a:off x="1177311" y="1162875"/>
            <a:ext cx="535500" cy="2123445"/>
          </a:xfrm>
          <a:prstGeom prst="leftBrace">
            <a:avLst>
              <a:gd name="adj1" fmla="val 8333"/>
              <a:gd name="adj2" fmla="val 495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EE0894-6A33-40D0-8939-5206B1821528}"/>
              </a:ext>
            </a:extLst>
          </p:cNvPr>
          <p:cNvSpPr txBox="1"/>
          <p:nvPr/>
        </p:nvSpPr>
        <p:spPr>
          <a:xfrm>
            <a:off x="3725957" y="5108510"/>
            <a:ext cx="4652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L&amp;H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EEE9CC-7FEA-4568-AD85-B22AAF0780F1}"/>
              </a:ext>
            </a:extLst>
          </p:cNvPr>
          <p:cNvSpPr txBox="1"/>
          <p:nvPr/>
        </p:nvSpPr>
        <p:spPr>
          <a:xfrm>
            <a:off x="3528683" y="6230148"/>
            <a:ext cx="1997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err="1"/>
              <a:t>Basestat</a:t>
            </a:r>
            <a:r>
              <a:rPr lang="en-US" sz="1000" b="1"/>
              <a:t> + Client + Claim + L&amp;H</a:t>
            </a:r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F96E1598-8016-418A-BDC3-E9F62EFA0B34}"/>
              </a:ext>
            </a:extLst>
          </p:cNvPr>
          <p:cNvSpPr/>
          <p:nvPr/>
        </p:nvSpPr>
        <p:spPr>
          <a:xfrm rot="16200000">
            <a:off x="2133043" y="2808606"/>
            <a:ext cx="535500" cy="2266950"/>
          </a:xfrm>
          <a:prstGeom prst="leftBrace">
            <a:avLst>
              <a:gd name="adj1" fmla="val 8333"/>
              <a:gd name="adj2" fmla="val 495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6ED87A-8300-4EF4-8B32-142ED85492C3}"/>
              </a:ext>
            </a:extLst>
          </p:cNvPr>
          <p:cNvSpPr txBox="1"/>
          <p:nvPr/>
        </p:nvSpPr>
        <p:spPr bwMode="auto">
          <a:xfrm>
            <a:off x="897993" y="2048003"/>
            <a:ext cx="26449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b">
            <a:spAutoFit/>
          </a:bodyPr>
          <a:lstStyle/>
          <a:p>
            <a:pPr eaLnBrk="1" hangingPunct="1"/>
            <a:r>
              <a:rPr lang="en-US" sz="1000">
                <a:solidFill>
                  <a:srgbClr val="000000"/>
                </a:solidFill>
                <a:latin typeface="Source Sans Pro" pitchFamily="34" charset="0"/>
              </a:rPr>
              <a:t>Left join with </a:t>
            </a:r>
            <a:r>
              <a:rPr lang="en-US" sz="1000" b="1">
                <a:solidFill>
                  <a:srgbClr val="000000"/>
                </a:solidFill>
                <a:latin typeface="Source Sans Pro" pitchFamily="34" charset="0"/>
              </a:rPr>
              <a:t>client num</a:t>
            </a:r>
            <a:r>
              <a:rPr lang="en-US" sz="1000">
                <a:solidFill>
                  <a:srgbClr val="000000"/>
                </a:solidFill>
                <a:latin typeface="Source Sans Pro" pitchFamily="34" charset="0"/>
              </a:rPr>
              <a:t>.(COWNNUM, CLNTNUM)</a:t>
            </a:r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62F03586-4611-468F-B9EF-BDB4856201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027" y="800153"/>
            <a:ext cx="978799" cy="97879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8D23D5F2-497F-4B6F-9E2F-DEFA96CE754B}"/>
              </a:ext>
            </a:extLst>
          </p:cNvPr>
          <p:cNvSpPr txBox="1"/>
          <p:nvPr/>
        </p:nvSpPr>
        <p:spPr bwMode="auto">
          <a:xfrm>
            <a:off x="1820361" y="3719704"/>
            <a:ext cx="195566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b">
            <a:spAutoFit/>
          </a:bodyPr>
          <a:lstStyle/>
          <a:p>
            <a:pPr eaLnBrk="1" hangingPunct="1"/>
            <a:r>
              <a:rPr lang="en-US" sz="1000">
                <a:solidFill>
                  <a:srgbClr val="000000"/>
                </a:solidFill>
                <a:latin typeface="Source Sans Pro" pitchFamily="34" charset="0"/>
              </a:rPr>
              <a:t>Left join with </a:t>
            </a:r>
            <a:r>
              <a:rPr lang="en-US" sz="1000" b="1">
                <a:solidFill>
                  <a:srgbClr val="000000"/>
                </a:solidFill>
                <a:latin typeface="Source Sans Pro" pitchFamily="34" charset="0"/>
              </a:rPr>
              <a:t>policy num. (</a:t>
            </a:r>
            <a:r>
              <a:rPr lang="en-US" sz="1000" b="1" err="1">
                <a:solidFill>
                  <a:srgbClr val="000000"/>
                </a:solidFill>
                <a:latin typeface="Source Sans Pro" pitchFamily="34" charset="0"/>
              </a:rPr>
              <a:t>contrnb</a:t>
            </a:r>
            <a:r>
              <a:rPr lang="en-US" sz="1000" b="1">
                <a:solidFill>
                  <a:srgbClr val="000000"/>
                </a:solidFill>
                <a:latin typeface="Source Sans Pro" pitchFamily="34" charset="0"/>
              </a:rPr>
              <a:t>)</a:t>
            </a:r>
          </a:p>
        </p:txBody>
      </p:sp>
      <p:sp>
        <p:nvSpPr>
          <p:cNvPr id="49" name="Left Brace 48">
            <a:extLst>
              <a:ext uri="{FF2B5EF4-FFF2-40B4-BE49-F238E27FC236}">
                <a16:creationId xmlns:a16="http://schemas.microsoft.com/office/drawing/2014/main" id="{EE2E2585-E36E-48E6-AA5B-4C3C17442A6F}"/>
              </a:ext>
            </a:extLst>
          </p:cNvPr>
          <p:cNvSpPr/>
          <p:nvPr/>
        </p:nvSpPr>
        <p:spPr>
          <a:xfrm rot="16200000">
            <a:off x="2865116" y="4465745"/>
            <a:ext cx="535500" cy="2266950"/>
          </a:xfrm>
          <a:prstGeom prst="leftBrace">
            <a:avLst>
              <a:gd name="adj1" fmla="val 8333"/>
              <a:gd name="adj2" fmla="val 495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07EA8A-6EC7-4DE5-91F9-58C6090CE9A5}"/>
              </a:ext>
            </a:extLst>
          </p:cNvPr>
          <p:cNvSpPr txBox="1"/>
          <p:nvPr/>
        </p:nvSpPr>
        <p:spPr bwMode="auto">
          <a:xfrm>
            <a:off x="2633404" y="5406161"/>
            <a:ext cx="38151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b">
            <a:spAutoFit/>
          </a:bodyPr>
          <a:lstStyle/>
          <a:p>
            <a:pPr eaLnBrk="1" hangingPunct="1"/>
            <a:r>
              <a:rPr lang="en-US" sz="1000">
                <a:solidFill>
                  <a:srgbClr val="000000"/>
                </a:solidFill>
                <a:latin typeface="Source Sans Pro" pitchFamily="34" charset="0"/>
              </a:rPr>
              <a:t>Left join with </a:t>
            </a:r>
            <a:r>
              <a:rPr lang="en-US" sz="1000" b="1">
                <a:solidFill>
                  <a:srgbClr val="000000"/>
                </a:solidFill>
                <a:latin typeface="Source Sans Pro" pitchFamily="34" charset="0"/>
              </a:rPr>
              <a:t>client ID. (</a:t>
            </a:r>
            <a:r>
              <a:rPr lang="en-US" sz="1000" b="1" err="1">
                <a:solidFill>
                  <a:srgbClr val="000000"/>
                </a:solidFill>
                <a:latin typeface="Source Sans Pro" pitchFamily="34" charset="0"/>
              </a:rPr>
              <a:t>modified_SECUITYNO</a:t>
            </a:r>
            <a:r>
              <a:rPr lang="en-US" sz="1000" b="1">
                <a:solidFill>
                  <a:srgbClr val="000000"/>
                </a:solidFill>
                <a:latin typeface="Source Sans Pro" pitchFamily="34" charset="0"/>
              </a:rPr>
              <a:t>, </a:t>
            </a:r>
            <a:r>
              <a:rPr lang="en-US" sz="1000" b="1" err="1">
                <a:solidFill>
                  <a:srgbClr val="000000"/>
                </a:solidFill>
                <a:latin typeface="Source Sans Pro" pitchFamily="34" charset="0"/>
              </a:rPr>
              <a:t>modified_owner_id</a:t>
            </a:r>
            <a:r>
              <a:rPr lang="en-US" sz="1000" b="1">
                <a:solidFill>
                  <a:srgbClr val="000000"/>
                </a:solidFill>
                <a:latin typeface="Source Sans Pro" pitchFamily="34" charset="0"/>
              </a:rPr>
              <a:t>)</a:t>
            </a:r>
          </a:p>
        </p:txBody>
      </p:sp>
      <p:pic>
        <p:nvPicPr>
          <p:cNvPr id="51" name="Graphic 50" descr="Database">
            <a:extLst>
              <a:ext uri="{FF2B5EF4-FFF2-40B4-BE49-F238E27FC236}">
                <a16:creationId xmlns:a16="http://schemas.microsoft.com/office/drawing/2014/main" id="{111079D1-73F2-444B-B47D-3F94B10E0F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8556" y="2450285"/>
            <a:ext cx="978799" cy="978799"/>
          </a:xfrm>
          <a:prstGeom prst="rect">
            <a:avLst/>
          </a:prstGeom>
        </p:spPr>
      </p:pic>
      <p:pic>
        <p:nvPicPr>
          <p:cNvPr id="52" name="Graphic 51" descr="Database">
            <a:extLst>
              <a:ext uri="{FF2B5EF4-FFF2-40B4-BE49-F238E27FC236}">
                <a16:creationId xmlns:a16="http://schemas.microsoft.com/office/drawing/2014/main" id="{A9994555-D5CE-4BAC-817F-B6EAC61ECB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52376" y="2447999"/>
            <a:ext cx="978799" cy="978799"/>
          </a:xfrm>
          <a:prstGeom prst="rect">
            <a:avLst/>
          </a:prstGeom>
        </p:spPr>
      </p:pic>
      <p:pic>
        <p:nvPicPr>
          <p:cNvPr id="53" name="Graphic 52" descr="Database">
            <a:extLst>
              <a:ext uri="{FF2B5EF4-FFF2-40B4-BE49-F238E27FC236}">
                <a16:creationId xmlns:a16="http://schemas.microsoft.com/office/drawing/2014/main" id="{322E171A-D6AB-4327-BF45-18E23C9798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1393" y="4209831"/>
            <a:ext cx="978799" cy="978799"/>
          </a:xfrm>
          <a:prstGeom prst="rect">
            <a:avLst/>
          </a:prstGeom>
        </p:spPr>
      </p:pic>
      <p:pic>
        <p:nvPicPr>
          <p:cNvPr id="54" name="Graphic 53" descr="Database">
            <a:extLst>
              <a:ext uri="{FF2B5EF4-FFF2-40B4-BE49-F238E27FC236}">
                <a16:creationId xmlns:a16="http://schemas.microsoft.com/office/drawing/2014/main" id="{B7FF2ACF-2C5D-4C1A-9D08-55D343C47B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64968" y="4209830"/>
            <a:ext cx="978799" cy="978799"/>
          </a:xfrm>
          <a:prstGeom prst="rect">
            <a:avLst/>
          </a:prstGeom>
        </p:spPr>
      </p:pic>
      <p:pic>
        <p:nvPicPr>
          <p:cNvPr id="55" name="Graphic 54" descr="Database">
            <a:extLst>
              <a:ext uri="{FF2B5EF4-FFF2-40B4-BE49-F238E27FC236}">
                <a16:creationId xmlns:a16="http://schemas.microsoft.com/office/drawing/2014/main" id="{C808DE96-94A7-40C3-8115-07FBC3A809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81565" y="5850594"/>
            <a:ext cx="978799" cy="97879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D7D9ECB-E180-4E84-8AF0-31FD3153B066}"/>
              </a:ext>
            </a:extLst>
          </p:cNvPr>
          <p:cNvSpPr txBox="1"/>
          <p:nvPr/>
        </p:nvSpPr>
        <p:spPr>
          <a:xfrm>
            <a:off x="1691213" y="5140042"/>
            <a:ext cx="1669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err="1"/>
              <a:t>Basestat</a:t>
            </a:r>
            <a:r>
              <a:rPr lang="en-US" sz="1000" b="1"/>
              <a:t> + Client + Claim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A53209-A52A-4B48-83E3-E0E406879134}"/>
              </a:ext>
            </a:extLst>
          </p:cNvPr>
          <p:cNvSpPr txBox="1"/>
          <p:nvPr/>
        </p:nvSpPr>
        <p:spPr bwMode="auto">
          <a:xfrm>
            <a:off x="6035336" y="1184522"/>
            <a:ext cx="6096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800" b="1"/>
              <a:t>Extraction Date: </a:t>
            </a:r>
            <a:r>
              <a:rPr lang="en-US" sz="1800"/>
              <a:t>Feb 2023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B3A72-D5DB-4FDE-B5E9-D66A6ED6C27F}"/>
              </a:ext>
            </a:extLst>
          </p:cNvPr>
          <p:cNvSpPr txBox="1"/>
          <p:nvPr/>
        </p:nvSpPr>
        <p:spPr>
          <a:xfrm>
            <a:off x="9648805" y="76526"/>
            <a:ext cx="23302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We need to update home data version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Copy from travel, numbers are wrong</a:t>
            </a:r>
          </a:p>
        </p:txBody>
      </p:sp>
    </p:spTree>
    <p:extLst>
      <p:ext uri="{BB962C8B-B14F-4D97-AF65-F5344CB8AC3E}">
        <p14:creationId xmlns:p14="http://schemas.microsoft.com/office/powerpoint/2010/main" val="2799964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9000-462A-47CF-923C-47F74967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Statistics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46F6B-0447-429C-BB76-468BBE079A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5193" y="6197425"/>
            <a:ext cx="4235923" cy="319303"/>
          </a:xfrm>
        </p:spPr>
        <p:txBody>
          <a:bodyPr/>
          <a:lstStyle/>
          <a:p>
            <a:r>
              <a:rPr lang="en-US" sz="1000">
                <a:solidFill>
                  <a:srgbClr val="FF0000"/>
                </a:solidFill>
                <a:ea typeface="Source Sans Pro"/>
              </a:rPr>
              <a:t>Note: this is the total period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58659-EFC8-4B0B-894F-BEA3C18678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928" y="982965"/>
            <a:ext cx="5222481" cy="4550519"/>
          </a:xfrm>
        </p:spPr>
        <p:txBody>
          <a:bodyPr lIns="91440" tIns="45720" rIns="91440" bIns="45720" anchor="t"/>
          <a:lstStyle/>
          <a:p>
            <a:pPr marL="405765" indent="-405765">
              <a:buFont typeface="Arial" pitchFamily="2" charset="0"/>
              <a:buChar char="•"/>
            </a:pPr>
            <a:r>
              <a:rPr lang="en-US" sz="2150" b="1" dirty="0">
                <a:ea typeface="Source Sans Pro"/>
              </a:rPr>
              <a:t># of unique clients in Travel Insurance</a:t>
            </a:r>
            <a:r>
              <a:rPr lang="en-US" sz="2150" dirty="0">
                <a:ea typeface="Source Sans Pro"/>
              </a:rPr>
              <a:t>: </a:t>
            </a:r>
            <a:r>
              <a:rPr lang="en-US" sz="2150" dirty="0">
                <a:ea typeface="+mj-lt"/>
                <a:cs typeface="+mj-lt"/>
              </a:rPr>
              <a:t>273,675</a:t>
            </a:r>
          </a:p>
          <a:p>
            <a:pPr marL="405765" indent="-405765">
              <a:buFont typeface="Arial" pitchFamily="2" charset="0"/>
              <a:buChar char="•"/>
            </a:pPr>
            <a:r>
              <a:rPr lang="en-US" sz="2150" b="1" dirty="0">
                <a:ea typeface="Source Sans Pro"/>
              </a:rPr>
              <a:t># of unique policy</a:t>
            </a:r>
            <a:r>
              <a:rPr lang="en-US" sz="2150" dirty="0">
                <a:ea typeface="Source Sans Pro"/>
              </a:rPr>
              <a:t>:  </a:t>
            </a:r>
            <a:r>
              <a:rPr lang="en-US" sz="2150" dirty="0">
                <a:ea typeface="+mj-lt"/>
                <a:cs typeface="+mj-lt"/>
              </a:rPr>
              <a:t>429,206</a:t>
            </a:r>
            <a:endParaRPr lang="en-US" sz="2150" dirty="0">
              <a:ea typeface="Source Sans Pro"/>
            </a:endParaRPr>
          </a:p>
          <a:p>
            <a:pPr marL="405765" indent="-405765">
              <a:buFont typeface="Arial" pitchFamily="2" charset="0"/>
              <a:buChar char="•"/>
            </a:pPr>
            <a:r>
              <a:rPr lang="en-US" sz="2150" dirty="0">
                <a:ea typeface="Source Sans Pro"/>
              </a:rPr>
              <a:t>Top 5 product by # of policy:</a:t>
            </a:r>
          </a:p>
          <a:p>
            <a:pPr marL="523875" indent="-405765">
              <a:buAutoNum type="arabicPeriod"/>
            </a:pPr>
            <a:endParaRPr lang="en-US" sz="2150" dirty="0">
              <a:ea typeface="Source Sans Pro"/>
            </a:endParaRPr>
          </a:p>
          <a:p>
            <a:pPr marL="405765" indent="-405765">
              <a:buFont typeface="Arial" pitchFamily="2" charset="0"/>
              <a:buChar char="•"/>
            </a:pPr>
            <a:r>
              <a:rPr lang="en-US" sz="2150" dirty="0">
                <a:ea typeface="Source Sans Pro"/>
              </a:rPr>
              <a:t>Sum</a:t>
            </a:r>
            <a:r>
              <a:rPr lang="en-US" sz="2150" dirty="0">
                <a:ea typeface="+mj-lt"/>
                <a:cs typeface="+mj-lt"/>
              </a:rPr>
              <a:t> of GWP:</a:t>
            </a:r>
            <a:endParaRPr lang="en-US" sz="2150" dirty="0">
              <a:ea typeface="Source Sans Pro"/>
            </a:endParaRPr>
          </a:p>
          <a:p>
            <a:pPr marL="405765" indent="-405765">
              <a:buFont typeface="Arial" pitchFamily="2" charset="0"/>
              <a:buChar char="•"/>
            </a:pPr>
            <a:r>
              <a:rPr lang="en-US" sz="2150" dirty="0">
                <a:ea typeface="Source Sans Pro"/>
              </a:rPr>
              <a:t>Average </a:t>
            </a:r>
            <a:r>
              <a:rPr lang="en-US" sz="2150">
                <a:ea typeface="Source Sans Pro"/>
              </a:rPr>
              <a:t>GWP:</a:t>
            </a:r>
            <a:endParaRPr lang="en-US" sz="2150" dirty="0">
              <a:ea typeface="Source Sans Pro"/>
            </a:endParaRPr>
          </a:p>
          <a:p>
            <a:pPr marL="405765" indent="-405765">
              <a:buFont typeface="Arial" pitchFamily="2" charset="0"/>
              <a:buChar char="•"/>
            </a:pPr>
            <a:endParaRPr lang="en-US" sz="2150" dirty="0">
              <a:ea typeface="Source Sans Pro"/>
            </a:endParaRPr>
          </a:p>
          <a:p>
            <a:pPr marL="405765" indent="-405765">
              <a:buFont typeface="Arial" pitchFamily="2" charset="0"/>
              <a:buChar char="•"/>
            </a:pPr>
            <a:endParaRPr lang="en-US" sz="2150" dirty="0">
              <a:ea typeface="Source Sans Pr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0EEE-851E-46D0-B400-6CD42AC5CD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3FF94BE-8939-42DD-BC80-D452AB1D60EB}" type="slidenum">
              <a:rPr lang="en-GB" altLang="en-US" smtClean="0"/>
              <a:pPr>
                <a:defRPr/>
              </a:pPr>
              <a:t>3</a:t>
            </a:fld>
            <a:endParaRPr lang="en-GB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201E2-1BFF-46ED-B464-E8883CB9247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D01353C-F356-4997-960D-F94CE2A85A1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CC9B8B1-E833-F824-3AAE-A337618719BD}"/>
              </a:ext>
            </a:extLst>
          </p:cNvPr>
          <p:cNvSpPr txBox="1">
            <a:spLocks/>
          </p:cNvSpPr>
          <p:nvPr/>
        </p:nvSpPr>
        <p:spPr>
          <a:xfrm>
            <a:off x="5504458" y="982966"/>
            <a:ext cx="5222481" cy="455051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406328" indent="-406328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27180"/>
              </a:buClr>
              <a:buSzPct val="85000"/>
              <a:buFont typeface="fleche_rond" pitchFamily="2" charset="0"/>
              <a:buChar char=""/>
              <a:defRPr sz="2185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82030" indent="-339434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27180"/>
              </a:buClr>
              <a:buSzPct val="85000"/>
              <a:buFont typeface="fleche_rond" pitchFamily="2" charset="0"/>
              <a:buChar char=""/>
              <a:defRPr sz="1873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261105" indent="-279971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–"/>
              <a:defRPr sz="156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99851" indent="-138746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•"/>
              <a:defRPr sz="1249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677344" indent="-138746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&gt;"/>
              <a:defRPr sz="936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992851" indent="-272077" algn="l" defTabSz="1088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007" indent="-272077" algn="l" defTabSz="1088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1160" indent="-272077" algn="l" defTabSz="1088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5315" indent="-272077" algn="l" defTabSz="1088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5765" indent="-405765">
              <a:buFont typeface="Arial" pitchFamily="2" charset="0"/>
              <a:buChar char="•"/>
            </a:pPr>
            <a:r>
              <a:rPr lang="en-US" sz="2150" b="1" dirty="0">
                <a:ea typeface="Source Sans Pro"/>
              </a:rPr>
              <a:t>Top 5 product by GWP:</a:t>
            </a:r>
          </a:p>
          <a:p>
            <a:pPr marL="405765" indent="-405765">
              <a:buFont typeface="Arial" pitchFamily="2" charset="0"/>
              <a:buChar char="•"/>
            </a:pPr>
            <a:endParaRPr lang="en-US" sz="2150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727444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2BC8D8AB7C1B41A8A1D3BBE914830F" ma:contentTypeVersion="2" ma:contentTypeDescription="Create a new document." ma:contentTypeScope="" ma:versionID="29d7097b9fb09687a01c25087ddbd41b">
  <xsd:schema xmlns:xsd="http://www.w3.org/2001/XMLSchema" xmlns:xs="http://www.w3.org/2001/XMLSchema" xmlns:p="http://schemas.microsoft.com/office/2006/metadata/properties" xmlns:ns2="18f18bd6-ba77-4928-9087-e1af9560551f" targetNamespace="http://schemas.microsoft.com/office/2006/metadata/properties" ma:root="true" ma:fieldsID="33b86bc76281b468f4745d5ec1c1ae30" ns2:_="">
    <xsd:import namespace="18f18bd6-ba77-4928-9087-e1af956055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f18bd6-ba77-4928-9087-e1af956055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601F9F-A11E-4F31-B918-F35E9C4BFE2D}"/>
</file>

<file path=customXml/itemProps2.xml><?xml version="1.0" encoding="utf-8"?>
<ds:datastoreItem xmlns:ds="http://schemas.openxmlformats.org/officeDocument/2006/customXml" ds:itemID="{A11D50E6-23CA-45C0-BDEA-8298D1940AED}"/>
</file>

<file path=customXml/itemProps3.xml><?xml version="1.0" encoding="utf-8"?>
<ds:datastoreItem xmlns:ds="http://schemas.openxmlformats.org/officeDocument/2006/customXml" ds:itemID="{E99CF665-994E-400A-83E2-F71DE30A4BA9}"/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198</Words>
  <Application>Microsoft Office PowerPoint</Application>
  <PresentationFormat>Widescreen</PresentationFormat>
  <Paragraphs>56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fleche_rond</vt:lpstr>
      <vt:lpstr>Arial</vt:lpstr>
      <vt:lpstr>Calibri</vt:lpstr>
      <vt:lpstr>Calibri Light</vt:lpstr>
      <vt:lpstr>Source Sans Pro</vt:lpstr>
      <vt:lpstr>Office Theme</vt:lpstr>
      <vt:lpstr>GI X-Sell In-depth EDA</vt:lpstr>
      <vt:lpstr>Data Source in detail</vt:lpstr>
      <vt:lpstr>Data Statistics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 X-Sell In-depth EDA</dc:title>
  <dc:creator>AU Kelvin</dc:creator>
  <cp:lastModifiedBy>AU Kelvin</cp:lastModifiedBy>
  <cp:revision>1</cp:revision>
  <dcterms:created xsi:type="dcterms:W3CDTF">2023-03-30T10:14:36Z</dcterms:created>
  <dcterms:modified xsi:type="dcterms:W3CDTF">2023-03-31T07:24:42Z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287ba8d-43fb-4157-9396-f69b5215739d_Enabled">
    <vt:lpwstr>true</vt:lpwstr>
  </property>
  <property fmtid="{D5CDD505-2E9C-101B-9397-08002B2CF9AE}" pid="3" name="MSIP_Label_a287ba8d-43fb-4157-9396-f69b5215739d_SetDate">
    <vt:lpwstr>2023-03-30T10:14:36Z</vt:lpwstr>
  </property>
  <property fmtid="{D5CDD505-2E9C-101B-9397-08002B2CF9AE}" pid="4" name="MSIP_Label_a287ba8d-43fb-4157-9396-f69b5215739d_Method">
    <vt:lpwstr>Standard</vt:lpwstr>
  </property>
  <property fmtid="{D5CDD505-2E9C-101B-9397-08002B2CF9AE}" pid="5" name="MSIP_Label_a287ba8d-43fb-4157-9396-f69b5215739d_Name">
    <vt:lpwstr>HK_Internal</vt:lpwstr>
  </property>
  <property fmtid="{D5CDD505-2E9C-101B-9397-08002B2CF9AE}" pid="6" name="MSIP_Label_a287ba8d-43fb-4157-9396-f69b5215739d_SiteId">
    <vt:lpwstr>396b38cc-aa65-492b-bb0e-3d94ed25a97b</vt:lpwstr>
  </property>
  <property fmtid="{D5CDD505-2E9C-101B-9397-08002B2CF9AE}" pid="7" name="MSIP_Label_a287ba8d-43fb-4157-9396-f69b5215739d_ActionId">
    <vt:lpwstr>3d165212-6844-401c-8023-0becfeda8f1a</vt:lpwstr>
  </property>
  <property fmtid="{D5CDD505-2E9C-101B-9397-08002B2CF9AE}" pid="8" name="MSIP_Label_a287ba8d-43fb-4157-9396-f69b5215739d_ContentBits">
    <vt:lpwstr>2</vt:lpwstr>
  </property>
  <property fmtid="{D5CDD505-2E9C-101B-9397-08002B2CF9AE}" pid="9" name="ContentTypeId">
    <vt:lpwstr>0x0101000A2BC8D8AB7C1B41A8A1D3BBE914830F</vt:lpwstr>
  </property>
</Properties>
</file>